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- BOE. Real Decreto 957/2020, de 3 de noviembre: https://www.boe.es/eli/es/rd/2020/11/03/957
- EUR-Lex. Reglamento (UE) 2017/745, CELEX 32017R0745: https://eur-lex.europa.eu/eli/reg/2017/745/oj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957/2020, de 3 de noviembre: https://www.boe.es/eli/es/rd/2020/11/03/957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957/2020, de 3 de noviembre: https://www.boe.es/eli/es/rd/2020/11/03/957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957/2020, de 3 de noviembre: https://www.boe.es/eli/es/rd/2020/11/03/957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957/2020, de 3 de noviembre: https://www.boe.es/eli/es/rd/2020/11/03/957
- BOE. Real Decreto 1090/2015, de 4 de diciembre, texto consolidado: https://www.boe.es/eli/es/rd/2015/12/04/1090/con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2017/745, CELEX 32017R0745: https://eur-lex.europa.eu/eli/reg/2017/745/oj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2017/745, CELEX 32017R0745: https://eur-lex.europa.eu/eli/reg/2017/745/oj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2017/745, CELEX 32017R0745: https://eur-lex.europa.eu/eli/reg/2017/745/oj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2017/745, CELEX 32017R0745: https://eur-lex.europa.eu/eli/reg/2017/745/oj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BOE. Real Decreto 1090/2015, de 4 de diciembre, texto consolidado: https://www.boe.es/eli/es/rd/2015/12/04/1090/con
- BOE. Real Decreto 957/2020, de 3 de noviembre: https://www.boe.es/eli/es/rd/2020/11/03/957
- EUR-Lex. Reglamento (UE) 2017/745, CELEX 32017R0745: https://eur-lex.europa.eu/eli/reg/2017/745/oj
- EUR-Lex. Reglamento (UE) 2017/746, CELEX 32017R0746: https://eur-lex.europa.eu/eli/reg/2017/746/oj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0138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docente | Fuentes oficiales en notas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41248"/>
            <a:ext cx="6172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Normativa de investigación clínica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España y la Unión Europea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9808" y="22402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CE7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en formato docente, con lenguaje sencillo y centrado en cuatro normas clave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52360" y="1078992"/>
            <a:ext cx="1874520" cy="178308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65008" y="1280160"/>
            <a:ext cx="694944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598664" y="1883664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1090/2015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16952" y="2139696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Ensayos clínicos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medicamentos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582912" y="1078992"/>
            <a:ext cx="1874520" cy="178308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95560" y="1280160"/>
            <a:ext cx="694944" cy="42062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29216" y="1883664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957/2020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47504" y="2139696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observacionales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52360" y="3127248"/>
            <a:ext cx="1874520" cy="178308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3328416"/>
            <a:ext cx="694944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98664" y="393192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16952" y="418795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sanitaros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582912" y="3127248"/>
            <a:ext cx="1874520" cy="178308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5560" y="3328416"/>
            <a:ext cx="694944" cy="42062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IVD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29216" y="3931920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47504" y="418795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Diagnóstico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vitro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8096" y="605332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una comparación final entre ensayo clínico, estudio observacional y producto sanitario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1090/2015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74980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Decreto 1090/2015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Ensayos clínicos con medicamentos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64992" y="1993392"/>
            <a:ext cx="781812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2304288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 los ensayos clínicos con medicamentos de uso humano en España.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También regula los CEIm y el Registro Español de Estudios Clínicos (REec).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Ordena cómo se evalúa, autoriza, realiza y vigila un ensayo.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 eje principal es proteger a las personas participantes.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298448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general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24528"/>
            <a:ext cx="1783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regula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qué aplica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1090/2015 · Puntos clave 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1090/2015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consentimiento informado es una pieza básica del ensayo clínico.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dedica reglas específicas a menores, urgencias, embarazo y lactancia.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Exige indemnización por daños y fija un régimen de responsabilidad.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 CEIm evalúan aspectos éticos, metodológicos y legales.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protección del sujeto del ensayo aparece antes que cualquier otra fase del estudio.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Actores principales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Sujeto del ensayo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Investigador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CEIm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en un ensayo clínico, la protección de la persona no es un añadido; es el punto de partida.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1090/2015 · Puntos clave (2)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1090/2015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establece un procedimiento de evaluación y autorización del ensayo.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Intervienen la AEMPS y los CEIm, con intercambio de información y coordinación.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Obliga a trabajar con normas de buena práctica clínica.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funciones del promotor, del monitor y del investigador.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Incluye reglas de seguridad, notificación de acontecimientos adversos y vigilancia.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Prevé comunicación y publicación en el REec.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 regulatorio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CEIm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AEMPS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0" y="45720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46725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aquí hay intervención sobre el medicamento y, por eso, el control regulatorio es intenso.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1090/2015 · Qué conviene recordar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893808" y="566928"/>
            <a:ext cx="1664208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1090/2015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16736"/>
            <a:ext cx="7132320" cy="4800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64208"/>
            <a:ext cx="6510528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el estudio prueba un medicamento en personas, esta es la norma de referencia.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Combina protección del participante, evaluación ética y control administrativo.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CEIm, AEMPS y REec forman parte del esquema básico.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basta con diseñar bien el estudio: también hay que autorizarlo, vigilarlo y comunicarlo.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49640" y="178308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3880" y="3794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que conviene recordar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4169664"/>
            <a:ext cx="27432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Ensayo clínico = intervención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autorización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vigilancia reforzada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957/2020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74980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Decreto 957/2020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Estudios observacionales con medicamentos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64992" y="1993392"/>
            <a:ext cx="781812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2304288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 los estudios observacionales con medicamentos de uso humano en España.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aplica a investigaciones con datos de salud que no cumplen las condiciones de ensayo clínico.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Sirve para conocer uso, seguridad, efectividad y resultados en práctica real.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 objetivo es simplificar el procedimiento sin dejar de exigir garantías.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298448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general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24528"/>
            <a:ext cx="1783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regula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qué aplica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957/2020 · Puntos clave 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957/2020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estudio observacional recoge datos, pero no debe convertir la investigación en una intervención propia del estudio.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prohíbe planificar, realizar o financiar estudios con finalidad promocional.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Debe existir un protocolo con objetivos, diseño y metodología.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hay seguimiento prospectivo, el protocolo debe explicar cómo se evita cambiar la prescripción o la dispensación habitual.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estudio sigue siendo investigación clínica, pero no es un ensayo clínico.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define al estudio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Práctica habitual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Recogida de datos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fin promocional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observar no significa “hacer sin reglas”; significa investigar sin introducir la intervención propia de un ensayo.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957/2020 · Puntos clave (2)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957/2020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Antes de empezar, el estudio necesita dictamen favorable del CEIm.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Además, debe existir acuerdo del centro sanitario y respetarse las condiciones de acceso a los datos.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exige garantías de transparencia e información en el REec.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publicación en REec es obligatoria para estudios de seguimiento prospectivo y voluntaria para los demás.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Las comunidades autónomas pueden añadir requisitos a los estudios prospectivos.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AEMPS publica instrucciones y promueve la armonización de criterios.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inicio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CEIm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 sanitario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personales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0" y="45720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46725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REec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el procedimiento es más ligero que en un ensayo clínico, pero sigue habiendo control ético, organizativo y de transparencia.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RD 957/2020 · Qué conviene recordar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893808" y="566928"/>
            <a:ext cx="1664208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 957/2020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16736"/>
            <a:ext cx="7132320" cy="4800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64208"/>
            <a:ext cx="6510528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usa cuando el estudio con medicamentos no llega a ser ensayo clínico.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tratamiento debe seguir los cauces habituales de la práctica clínica.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ética, la protección de datos y la transparencia siguen siendo obligatorias.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elemento decisivo es que el estudio observa y analiza, pero no introduce la intervención propia del ensayo.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49640" y="178308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3880" y="3794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que conviene recordar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4169664"/>
            <a:ext cx="27432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Observacional = uso real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recogida de datos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control proporcional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74980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2017/745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Productos sanitarios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64992" y="1993392"/>
            <a:ext cx="781812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2304288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 los productos sanitarios en la Unión Europea.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Incluye reglas sobre seguridad, funcionamiento, comercialización, trazabilidad e investigación clínica.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regula medicamentos: regula dispositivos y otras tecnologías sanitarias.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Cuando hace falta evidencia clínica, la norma prevé evaluación clínica e investigación clínica.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298448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general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24528"/>
            <a:ext cx="1783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regula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qué aplica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2017/745 · Puntos clave 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objetivo general es asegurar el buen funcionamiento del mercado y un alto nivel de protección de la salud.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fabricante debe demostrar la conformidad del producto con los requisitos aplicables.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exige evidencia clínica suficiente y que el fabricante justifique el nivel de evidencia necesario.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evaluación clínica no es algo puntual: debe planificarse, realizarse y documentarse de forma continua.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También contempla seguimiento clínico poscomercialización.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la evidencia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Fabricante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clínica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clínico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en productos sanitarios, la pregunta clave es si el dispositivo es seguro y funciona como se pretende.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2017/745 · Puntos clave (2)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se realiza una investigación clínica, el promotor presenta la solicitud al Estado miembro donde se hará.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regulación prevé intervención de la autoridad competente y menciona el papel del comité ético en el Estado miembro afectado.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muchos productos participa un organismo notificado en la evaluación de conformidad.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trazabilidad y el registro del producto son parte central del sistema.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también desarrolla vigilancia, seguimiento poscomercialización y control del mercado.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interviene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competente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Comité ético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0" y="45720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46725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Organismo notificado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aquí el objeto de estudio es un dispositivo, no un medicamento.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2017/745 · Qué conviene recordar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893808" y="566928"/>
            <a:ext cx="1664208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16736"/>
            <a:ext cx="7132320" cy="4800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64208"/>
            <a:ext cx="6510528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la norma europea básica para productos sanitarios.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Pide demostrar seguridad, funcionamiento y evidencia clínica suficiente.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hay investigación clínica, hay solicitud, evaluación y seguimiento específicos.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trazabilidad y la vigilancia continúan después de la puesta en el mercado.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49640" y="178308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3880" y="3794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que conviene recordar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4169664"/>
            <a:ext cx="27432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sanitario =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dispositivo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evidencia clínica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trazabilidad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749808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2017/746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Diagnóstico in vitro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64992" y="1993392"/>
            <a:ext cx="781812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508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2304288"/>
            <a:ext cx="6217920" cy="3383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 los productos sanitarios para diagnóstico in vitro en la Unión Europea.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aplica a productos que analizan muestras humanas fuera del cuerpo.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Incluye evaluación del rendimiento, estudios de rendimiento y seguimiento posterior.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la norma específica para test diagnósticos, no la norma general de productos sanitarios.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1298448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IVD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Visión general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4224528"/>
            <a:ext cx="17830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regula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qué aplica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central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2017/746 · Puntos clave (1)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eje central es demostrar que el test sirve para la finalidad diagnóstica prevista.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norma exige demostrar validez científica, rendimiento analítico y rendimiento clínico.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evaluación del rendimiento es continua y estructurada.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Cuando hace falta, la evidencia se obtiene mediante estudios de rendimiento.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También se prevé seguimiento poscomercialización del rendimiento.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 demostrar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Validez científica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 analítico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 clínico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en IVD no basta con que “el aparato mida”; debe probar que el resultado sirve para diagnosticar como se pretende.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2017/746 · Puntos clave (2)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543800" cy="5084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" dist="381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30768" y="1115568"/>
            <a:ext cx="3200400" cy="508406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444752"/>
            <a:ext cx="6903720" cy="4069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 estudios de rendimiento con intervención o riesgo, el promotor presenta solicitud al Estado miembro correspondiente.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regulación menciona la intervención de la autoridad competente y del comité ético del Estado miembro afectado.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 muchos IVD interviene un organismo notificado en la evaluación de conformidad.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identificación, trazabilidad y registro también forman parte del sistema.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vigilancia y el seguimiento posterior continúan tras la comercialización.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686800" y="1444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interviene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93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0" y="27432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9952" y="28437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 competente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0" y="365760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9952" y="37581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Comité ético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86800" y="4572000"/>
            <a:ext cx="2697480" cy="5669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4672584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Organismo notificado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5724144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docente: si el producto analiza muestras humanas fuera del cuerpo, normalmente debes pensar primero en este reglamento.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Reglamento (UE) 2017/746 · Qué conviene recordar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9893808" y="566928"/>
            <a:ext cx="1664208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Reg. 2017/746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16736"/>
            <a:ext cx="7132320" cy="4800600"/>
          </a:xfrm>
          <a:prstGeom prst="round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64208"/>
            <a:ext cx="6510528" cy="4206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 la regla europea específica para diagnóstico in vitro.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 lenguaje clave es: validez científica, rendimiento analítico y rendimiento clínico.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Los estudios de rendimiento ocupan el lugar que en otros productos tiene la investigación clínica.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lógica regulatoria combina evidencia previa, control de conformidad y seguimiento posterior.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49640" y="1783080"/>
            <a:ext cx="20574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IVD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183880" y="37947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que conviene recordar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83880" y="4169664"/>
            <a:ext cx="2743200" cy="12252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IVD = muestra humana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fuera del cuerpo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rendimiento demostrado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Comparación final · Ensayo clínico, observacional y producto sanitario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921240" y="438912"/>
            <a:ext cx="1691640" cy="310896"/>
          </a:xfrm>
          <a:prstGeom prst="rect">
            <a:avLst/>
          </a:prstGeom>
          <a:solidFill>
            <a:srgbClr val="FFFFFF"/>
          </a:solidFill>
          <a:ln>
            <a:solidFill>
              <a:srgbClr val="0F766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final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02536" y="1499616"/>
            <a:ext cx="694944" cy="42062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Ensayo clínico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medicamento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15968" y="12344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51576" y="1499616"/>
            <a:ext cx="694944" cy="42062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0" y="2267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Estudio observacional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medicamento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65008" y="1234440"/>
            <a:ext cx="35661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00616" y="1499616"/>
            <a:ext cx="694944" cy="42062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321040" y="2267712"/>
            <a:ext cx="3054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Producto sanitario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/ diagnóstico in vitro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297180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prueba un medicamento en personas.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intervención del estudio es central.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Requiere evaluación y autorización específicas.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 clave: RD 1090/2015.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297180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 observan datos del uso real del medicamento.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tratamiento sigue la práctica habitual.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Hay control ético y de transparencia, pero proporcional.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Norma clave: RD 957/2020.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97180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 objeto principal es un dispositivo o un test.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 importante es demostrar seguridad, funcionamiento o rendimiento.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analiza muestras fuera del cuerpo, aplica el Reglamento 2017/746.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 no, la referencia general es el Reglamento 2017/745.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5925312"/>
            <a:ext cx="10241280" cy="219456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rápida para orientarte: ¿se investiga un medicamento o un dispositivo? ¿se interviene o solo se observa?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Normativa de investigación clínica: España y UE</dc:title>
  <dc:subject>Normativa de investigación clínica en España y la Unión Europea</dc:subject>
  <dc:creator>OpenAI</dc:creator>
  <cp:lastModifiedBy>OpenAI</cp:lastModifiedBy>
  <cp:revision>1</cp:revision>
  <dcterms:created xsi:type="dcterms:W3CDTF">2026-03-17T17:50:43Z</dcterms:created>
  <dcterms:modified xsi:type="dcterms:W3CDTF">2026-03-17T17:50:43Z</dcterms:modified>
</cp:coreProperties>
</file>